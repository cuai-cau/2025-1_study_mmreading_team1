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notesSlides/notesSlide1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7" r:id="rId7"/>
    <p:sldId id="270" r:id="rId8"/>
    <p:sldId id="261" r:id="rId9"/>
    <p:sldId id="268" r:id="rId10"/>
    <p:sldId id="262" r:id="rId11"/>
    <p:sldId id="263" r:id="rId12"/>
    <p:sldId id="271" r:id="rId13"/>
    <p:sldId id="272" r:id="rId14"/>
    <p:sldId id="266" r:id="rId15"/>
    <p:sldId id="269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12" y="7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9T23:37:04.4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1 205,'988'0,"-798"16,-4 0,338-15,-237-2,-216-2,1-2,108-22,-146 18,47-18,24-7,18 10,0 6,2 5,158 3,1875 14,-1319-5,-765 5,-1 2,76 19,79 7,71-28,57 6,338 11,-497-23,2-14,-31 1,-133 12,1-2,-1-2,37-11,-28 7,54-8,288 10,-270 10,86 1,299-3,-294-15,38-1,-151 18,244-14,37-10,1 23,-167 3,1049-3,-1226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9T23:37:58.3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1,'962'0,"-924"0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9T23:37:59.5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0,'6'0,"19"0,51 0,45 0,27 0,3 0,-22 6,-29 2,-24-1,-16-1,-10-2,-15-1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AE9E376F-E7F6-7BD6-D7FA-EA15DE0FA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525C4E3B-5719-4B3D-3135-127E563F9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66741465-9D36-36E6-9D79-41A5608E3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9608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7ADC26CB-2BED-E14A-CD1F-A42D02A9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568C78B6-45E4-FCCB-8A8D-FA6A795FD0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7F042948-E39F-4302-97BE-3A240B2CC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5546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9C4265AC-F24D-6870-6014-720083911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C61C1A5A-7F1D-84FB-C819-C038FD5E17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A799D3AF-F2A4-66C5-AB79-96D84540B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2875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1C6FEE83-793E-331A-81FB-1D44B672A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B5C53E5C-A7C1-BD1E-B426-45A785B14A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46055097-163A-48BD-3D0D-0A3C66E81E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994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C621B898-F5C1-7AC6-81B9-AED4F8867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C82A9079-434A-0A6E-13FA-A1608C1F02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AE2F5BEE-B788-482F-97A5-4391D5EB3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1260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E5FFB057-DDA8-5370-CCDA-0E5CD0120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4DB701B8-2CFC-02AA-FED8-32347EFC8F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B32BC460-265F-3413-7743-4BA79D7B7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6997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D65AA2FF-D0F4-3E89-1D4E-377003E87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BEB79D9A-794A-8A77-FA09-3B57F87FC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4AF73F4D-1FB3-0B4D-EDCE-B726C0A1B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290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A2933733-3303-5CE4-E752-91735CB6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B7153F1F-6982-E684-F633-59C403BA2A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7352A9E7-B9EF-4FDF-8A4C-E6E43A2F37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085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4B4A5C53-781C-7619-F35E-C5873BA84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64D57AAF-2ACF-60FC-41B1-EA09F16654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EA2C6562-ECE0-6B23-1207-1F5F17C50D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4152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02242C6-80BE-214E-6DD2-0AB7C4A40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DFA42164-84A4-3025-9ED7-DF20F7C276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383C2DB2-BF7D-72E5-C66B-5E2B84FFE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0568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6C9D2B1E-87DE-65CA-0F9D-643AD2E72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19A4F2BC-713E-7712-5B32-20BB52F90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CF200E2E-FED2-30FC-6B92-EF9D247E0A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635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customXml" Target="../ink/ink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402096" y="3236523"/>
            <a:ext cx="528965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딥러닝 논문 리뷰 </a:t>
            </a:r>
            <a:r>
              <a:rPr lang="ko" sz="2500" b="1" dirty="0">
                <a:solidFill>
                  <a:srgbClr val="19264B"/>
                </a:solidFill>
              </a:rPr>
              <a:t>스터디 </a:t>
            </a:r>
            <a:r>
              <a:rPr lang="en-US" altLang="ko" sz="2500" b="1" dirty="0">
                <a:solidFill>
                  <a:srgbClr val="19264B"/>
                </a:solidFill>
              </a:rPr>
              <a:t>MM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.0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20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김현수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이곳에 만나서 찍은 사진을 넣어주세요.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(비대면일 경우엔 화면 캡쳐 이용)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얼굴이 나오게 찍어주셔야 합니다:D</a:t>
            </a:r>
            <a:endParaRPr sz="1200"/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137600" y="1820125"/>
            <a:ext cx="22821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1 : </a:t>
            </a:r>
            <a:r>
              <a:rPr lang="ko-KR" altLang="en-US" dirty="0"/>
              <a:t>김현수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2 :</a:t>
            </a:r>
            <a:r>
              <a:rPr lang="en-US" altLang="ko" dirty="0"/>
              <a:t> </a:t>
            </a:r>
            <a:r>
              <a:rPr lang="ko-KR" altLang="en-US" dirty="0"/>
              <a:t>나상현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3 : </a:t>
            </a:r>
            <a:r>
              <a:rPr lang="ko-KR" altLang="en-US" dirty="0"/>
              <a:t>이가연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목차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CBDBC1FD-457A-863F-1591-85F4C046DB9B}"/>
              </a:ext>
            </a:extLst>
          </p:cNvPr>
          <p:cNvSpPr txBox="1">
            <a:spLocks/>
          </p:cNvSpPr>
          <p:nvPr/>
        </p:nvSpPr>
        <p:spPr>
          <a:xfrm>
            <a:off x="1408975" y="1055549"/>
            <a:ext cx="7430310" cy="37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 algn="l">
              <a:lnSpc>
                <a:spcPct val="200000"/>
              </a:lnSpc>
              <a:buAutoNum type="arabicPeriod"/>
            </a:pPr>
            <a:r>
              <a:rPr lang="ko-KR" altLang="en-US" sz="2000" b="1" dirty="0">
                <a:solidFill>
                  <a:schemeClr val="tx1"/>
                </a:solidFill>
              </a:rPr>
              <a:t>연구 소개 및 문제 정의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indent="-457200" algn="l">
              <a:lnSpc>
                <a:spcPct val="200000"/>
              </a:lnSpc>
              <a:buAutoNum type="arabicPeriod"/>
            </a:pPr>
            <a:r>
              <a:rPr lang="ko-KR" altLang="en-US" sz="2000" b="1" dirty="0">
                <a:solidFill>
                  <a:schemeClr val="tx1"/>
                </a:solidFill>
              </a:rPr>
              <a:t>핵심 아이디어와 모델 구조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indent="-457200" algn="l">
              <a:lnSpc>
                <a:spcPct val="200000"/>
              </a:lnSpc>
              <a:buAutoNum type="arabicPeriod"/>
            </a:pPr>
            <a:r>
              <a:rPr lang="en-US" altLang="ko-KR" sz="2000" b="1" dirty="0">
                <a:solidFill>
                  <a:schemeClr val="tx1"/>
                </a:solidFill>
              </a:rPr>
              <a:t>Method </a:t>
            </a:r>
            <a:r>
              <a:rPr lang="ko-KR" altLang="en-US" sz="2000" b="1" dirty="0">
                <a:solidFill>
                  <a:schemeClr val="tx1"/>
                </a:solidFill>
              </a:rPr>
              <a:t>정리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indent="-457200" algn="l">
              <a:lnSpc>
                <a:spcPct val="200000"/>
              </a:lnSpc>
              <a:buAutoNum type="arabicPeriod"/>
            </a:pPr>
            <a:r>
              <a:rPr lang="ko-KR" altLang="en-US" sz="2000" b="1" dirty="0">
                <a:solidFill>
                  <a:schemeClr val="tx1"/>
                </a:solidFill>
              </a:rPr>
              <a:t>성능 실험 결과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indent="-457200" algn="l">
              <a:lnSpc>
                <a:spcPct val="200000"/>
              </a:lnSpc>
              <a:buAutoNum type="arabicPeriod"/>
            </a:pPr>
            <a:r>
              <a:rPr lang="ko-KR" altLang="en-US" sz="2000" b="1" dirty="0">
                <a:solidFill>
                  <a:schemeClr val="tx1"/>
                </a:solidFill>
              </a:rPr>
              <a:t>기여와 한계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indent="-457200" algn="l">
              <a:buAutoNum type="arabicPeriod"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1.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연구 소개 및 문제 정의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F1902A2-0717-BD15-1DD8-DF784D6C6BFA}"/>
              </a:ext>
            </a:extLst>
          </p:cNvPr>
          <p:cNvSpPr txBox="1">
            <a:spLocks/>
          </p:cNvSpPr>
          <p:nvPr/>
        </p:nvSpPr>
        <p:spPr>
          <a:xfrm>
            <a:off x="1408975" y="1055549"/>
            <a:ext cx="7430310" cy="37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r>
              <a:rPr lang="en-US" altLang="ko-KR" sz="2000" b="1" dirty="0">
                <a:solidFill>
                  <a:schemeClr val="tx1"/>
                </a:solidFill>
              </a:rPr>
              <a:t>No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pose,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No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problem</a:t>
            </a:r>
          </a:p>
          <a:p>
            <a:pPr marL="0" indent="0" algn="l"/>
            <a:r>
              <a:rPr lang="en-US" altLang="ko-KR" sz="2000" dirty="0">
                <a:solidFill>
                  <a:schemeClr val="tx1"/>
                </a:solidFill>
              </a:rPr>
              <a:t>: Surprisingly Simple 3D Gaussian Splats from Sparse Unposed Images (ICLR</a:t>
            </a:r>
            <a:r>
              <a:rPr lang="ko-KR" altLang="en-US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>
                <a:solidFill>
                  <a:schemeClr val="tx1"/>
                </a:solidFill>
              </a:rPr>
              <a:t>2025, Top 1.8%)</a:t>
            </a:r>
          </a:p>
          <a:p>
            <a:pPr marL="0" indent="0" algn="l"/>
            <a:endParaRPr lang="en-US" altLang="ko-KR" sz="2000" dirty="0">
              <a:solidFill>
                <a:schemeClr val="tx1"/>
              </a:solidFill>
            </a:endParaRPr>
          </a:p>
          <a:p>
            <a:pPr marL="0" indent="0" algn="l"/>
            <a:r>
              <a:rPr lang="ko-KR" altLang="en-US" sz="2000" b="1" dirty="0">
                <a:solidFill>
                  <a:schemeClr val="tx1"/>
                </a:solidFill>
              </a:rPr>
              <a:t>목적</a:t>
            </a:r>
            <a:r>
              <a:rPr lang="en-US" altLang="ko-KR" sz="2000" b="1" dirty="0">
                <a:solidFill>
                  <a:schemeClr val="tx1"/>
                </a:solidFill>
              </a:rPr>
              <a:t>: </a:t>
            </a:r>
            <a:r>
              <a:rPr lang="ko-KR" altLang="en-US" sz="2000" dirty="0">
                <a:solidFill>
                  <a:schemeClr val="tx1"/>
                </a:solidFill>
              </a:rPr>
              <a:t>포즈 정보 없이</a:t>
            </a:r>
            <a:r>
              <a:rPr lang="en-US" altLang="ko-KR" sz="2000" dirty="0">
                <a:solidFill>
                  <a:schemeClr val="tx1"/>
                </a:solidFill>
              </a:rPr>
              <a:t>, </a:t>
            </a:r>
            <a:r>
              <a:rPr lang="ko-KR" altLang="en-US" sz="2000" dirty="0">
                <a:solidFill>
                  <a:schemeClr val="tx1"/>
                </a:solidFill>
              </a:rPr>
              <a:t>적은 수의 이미지로도 </a:t>
            </a:r>
            <a:r>
              <a:rPr lang="en-US" altLang="ko-KR" sz="2000" dirty="0">
                <a:solidFill>
                  <a:schemeClr val="tx1"/>
                </a:solidFill>
              </a:rPr>
              <a:t>3D </a:t>
            </a:r>
            <a:r>
              <a:rPr lang="ko-KR" altLang="en-US" sz="2000" dirty="0">
                <a:solidFill>
                  <a:schemeClr val="tx1"/>
                </a:solidFill>
              </a:rPr>
              <a:t>장면을 복원하는 모델 제안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marL="0" indent="0" algn="l"/>
            <a:endParaRPr lang="en-US" altLang="ko-KR" sz="2000" b="1" dirty="0">
              <a:solidFill>
                <a:schemeClr val="tx1"/>
              </a:solidFill>
            </a:endParaRPr>
          </a:p>
          <a:p>
            <a:pPr marL="0" indent="0" algn="l"/>
            <a:r>
              <a:rPr lang="ko-KR" altLang="en-US" sz="2000" b="1" dirty="0">
                <a:solidFill>
                  <a:schemeClr val="tx1"/>
                </a:solidFill>
              </a:rPr>
              <a:t>배경 문제</a:t>
            </a:r>
            <a:r>
              <a:rPr lang="en-US" altLang="ko-KR" sz="2000" b="1" dirty="0">
                <a:solidFill>
                  <a:schemeClr val="tx1"/>
                </a:solidFill>
              </a:rPr>
              <a:t>: </a:t>
            </a:r>
            <a:r>
              <a:rPr lang="ko-KR" altLang="en-US" sz="2000" dirty="0">
                <a:solidFill>
                  <a:schemeClr val="tx1"/>
                </a:solidFill>
              </a:rPr>
              <a:t>기존 </a:t>
            </a:r>
            <a:r>
              <a:rPr lang="en-US" altLang="ko-KR" sz="2000" dirty="0">
                <a:solidFill>
                  <a:schemeClr val="tx1"/>
                </a:solidFill>
              </a:rPr>
              <a:t>3D </a:t>
            </a:r>
            <a:r>
              <a:rPr lang="ko-KR" altLang="en-US" sz="2000" dirty="0">
                <a:solidFill>
                  <a:schemeClr val="tx1"/>
                </a:solidFill>
              </a:rPr>
              <a:t>복원 모델은 수십 장의 이미지와 정확한 카메라 포즈가 필요함</a:t>
            </a:r>
            <a:r>
              <a:rPr lang="en-US" altLang="ko-KR" sz="2000" dirty="0">
                <a:solidFill>
                  <a:schemeClr val="tx1"/>
                </a:solidFill>
              </a:rPr>
              <a:t>. </a:t>
            </a:r>
            <a:r>
              <a:rPr lang="ko-KR" altLang="en-US" sz="2000" dirty="0">
                <a:solidFill>
                  <a:schemeClr val="tx1"/>
                </a:solidFill>
              </a:rPr>
              <a:t>하지만 실제 환경에서는 포즈 정보가 없고 이미지 수도 적음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6F7DB01F-5FD6-1A53-7BC0-340596809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375B6E3-CAFA-47D0-D132-911E77A6D7A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F8FEA20D-BB16-AFD0-3CCE-458CF4CDCF2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345DDAA0-4E75-F80F-F8C5-D7C0ACD999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784EE3FB-A286-565C-54F3-BC394D8C966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핵심 아이디어와 모델 구조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8A341E5-C44C-BA32-D887-D9850F1CC1ED}"/>
              </a:ext>
            </a:extLst>
          </p:cNvPr>
          <p:cNvSpPr txBox="1">
            <a:spLocks/>
          </p:cNvSpPr>
          <p:nvPr/>
        </p:nvSpPr>
        <p:spPr>
          <a:xfrm>
            <a:off x="1408975" y="1055549"/>
            <a:ext cx="7430310" cy="37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</a:rPr>
              <a:t>1. Canonical Space </a:t>
            </a:r>
            <a:r>
              <a:rPr lang="ko-KR" altLang="en-US" sz="2000" b="1" dirty="0">
                <a:solidFill>
                  <a:schemeClr val="tx1"/>
                </a:solidFill>
              </a:rPr>
              <a:t>예측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ko-KR" altLang="en-US" sz="2000" dirty="0">
                <a:solidFill>
                  <a:schemeClr val="tx1"/>
                </a:solidFill>
              </a:rPr>
              <a:t>여러 이미지 중 하나의 카메라 좌표계를 기준으로 사용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marL="0" indent="0" algn="l">
              <a:lnSpc>
                <a:spcPct val="150000"/>
              </a:lnSpc>
            </a:pPr>
            <a:r>
              <a:rPr lang="ko-KR" altLang="en-US" sz="2000" dirty="0">
                <a:solidFill>
                  <a:schemeClr val="tx1"/>
                </a:solidFill>
              </a:rPr>
              <a:t>모든 </a:t>
            </a:r>
            <a:r>
              <a:rPr lang="en-US" altLang="ko-KR" sz="2000" dirty="0">
                <a:solidFill>
                  <a:schemeClr val="tx1"/>
                </a:solidFill>
              </a:rPr>
              <a:t>3D Gaussian</a:t>
            </a:r>
            <a:r>
              <a:rPr lang="ko-KR" altLang="en-US" sz="2000" dirty="0">
                <a:solidFill>
                  <a:schemeClr val="tx1"/>
                </a:solidFill>
              </a:rPr>
              <a:t>은 그 기준 공간에서 직접 예측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marL="0" indent="0" algn="l">
              <a:lnSpc>
                <a:spcPct val="150000"/>
              </a:lnSpc>
            </a:pPr>
            <a:r>
              <a:rPr lang="ko-KR" altLang="en-US" sz="2000" dirty="0">
                <a:solidFill>
                  <a:schemeClr val="tx1"/>
                </a:solidFill>
              </a:rPr>
              <a:t>복잡한 변환 과정 없이도 정렬 가능하며 포즈 정보 불필요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marL="0" indent="0" algn="l"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</a:rPr>
              <a:t>2. </a:t>
            </a:r>
            <a:r>
              <a:rPr lang="ko-KR" altLang="en-US" sz="2000" b="1" dirty="0">
                <a:solidFill>
                  <a:schemeClr val="tx1"/>
                </a:solidFill>
              </a:rPr>
              <a:t>학습 방식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0" indent="0" algn="l">
              <a:lnSpc>
                <a:spcPct val="150000"/>
              </a:lnSpc>
            </a:pPr>
            <a:r>
              <a:rPr lang="ko-KR" altLang="en-US" sz="2000" dirty="0">
                <a:solidFill>
                  <a:schemeClr val="tx1"/>
                </a:solidFill>
              </a:rPr>
              <a:t>포즈 없이도 </a:t>
            </a:r>
            <a:r>
              <a:rPr lang="en-US" altLang="ko-KR" sz="2000" dirty="0">
                <a:solidFill>
                  <a:schemeClr val="tx1"/>
                </a:solidFill>
              </a:rPr>
              <a:t>photometric loss </a:t>
            </a:r>
            <a:r>
              <a:rPr lang="ko-KR" altLang="en-US" sz="2000" dirty="0">
                <a:solidFill>
                  <a:schemeClr val="tx1"/>
                </a:solidFill>
              </a:rPr>
              <a:t>하나만으로 학습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marL="0" indent="0" algn="l">
              <a:lnSpc>
                <a:spcPct val="150000"/>
              </a:lnSpc>
            </a:pPr>
            <a:r>
              <a:rPr lang="ko-KR" altLang="en-US" sz="2000" dirty="0">
                <a:solidFill>
                  <a:schemeClr val="tx1"/>
                </a:solidFill>
              </a:rPr>
              <a:t>추론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ko-KR" altLang="en-US" sz="2000" dirty="0">
                <a:solidFill>
                  <a:schemeClr val="tx1"/>
                </a:solidFill>
              </a:rPr>
              <a:t>단계 </a:t>
            </a:r>
            <a:r>
              <a:rPr lang="en-US" altLang="ko-KR" sz="2000" dirty="0">
                <a:solidFill>
                  <a:schemeClr val="tx1"/>
                </a:solidFill>
              </a:rPr>
              <a:t>66 FPS</a:t>
            </a:r>
          </a:p>
        </p:txBody>
      </p:sp>
    </p:spTree>
    <p:extLst>
      <p:ext uri="{BB962C8B-B14F-4D97-AF65-F5344CB8AC3E}">
        <p14:creationId xmlns:p14="http://schemas.microsoft.com/office/powerpoint/2010/main" val="1818814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125551B8-E019-B657-BE5F-FDE25C61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BE9BEAB-6FAD-76D8-F6C1-4601EEFF24F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AAA32D96-95D0-CCEF-DA9C-DA88CCF4E2A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F9A6FE09-8EAD-A74D-A34C-76C5A693BC3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677E74A7-454D-F112-A389-370FB0B206FE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핵심 아이디어와 모델 구조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C676B52C-0E59-DDCD-EDB2-507213190F20}"/>
              </a:ext>
            </a:extLst>
          </p:cNvPr>
          <p:cNvSpPr txBox="1">
            <a:spLocks/>
          </p:cNvSpPr>
          <p:nvPr/>
        </p:nvSpPr>
        <p:spPr>
          <a:xfrm>
            <a:off x="1408975" y="1055549"/>
            <a:ext cx="7430310" cy="37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r>
              <a:rPr lang="en-US" altLang="ko-KR" sz="2000" b="1" dirty="0">
                <a:solidFill>
                  <a:schemeClr val="tx1"/>
                </a:solidFill>
              </a:rPr>
              <a:t>*</a:t>
            </a:r>
            <a:r>
              <a:rPr lang="ko-KR" altLang="en-US" sz="2000" b="1" dirty="0">
                <a:solidFill>
                  <a:schemeClr val="tx1"/>
                </a:solidFill>
              </a:rPr>
              <a:t>전체 모델 구조</a:t>
            </a:r>
            <a:r>
              <a:rPr lang="en-US" altLang="ko-KR" sz="2000" b="1" dirty="0">
                <a:solidFill>
                  <a:schemeClr val="tx1"/>
                </a:solidFill>
              </a:rPr>
              <a:t>(3</a:t>
            </a:r>
            <a:r>
              <a:rPr lang="ko-KR" altLang="en-US" sz="2000" b="1" dirty="0">
                <a:solidFill>
                  <a:schemeClr val="tx1"/>
                </a:solidFill>
              </a:rPr>
              <a:t>단계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</a:p>
          <a:p>
            <a:pPr marL="0" indent="0" algn="l"/>
            <a:r>
              <a:rPr lang="en-US" altLang="ko-KR" sz="2000" b="1" dirty="0">
                <a:solidFill>
                  <a:schemeClr val="tx1"/>
                </a:solidFill>
              </a:rPr>
              <a:t>1. Encoder: </a:t>
            </a:r>
            <a:r>
              <a:rPr lang="en-US" altLang="ko-KR" sz="2000" dirty="0" err="1">
                <a:solidFill>
                  <a:schemeClr val="tx1"/>
                </a:solidFill>
              </a:rPr>
              <a:t>ViT</a:t>
            </a:r>
            <a:r>
              <a:rPr lang="en-US" altLang="ko-KR" sz="2000" dirty="0">
                <a:solidFill>
                  <a:schemeClr val="tx1"/>
                </a:solidFill>
              </a:rPr>
              <a:t>. </a:t>
            </a:r>
            <a:r>
              <a:rPr lang="ko-KR" altLang="en-US" sz="2000" dirty="0">
                <a:solidFill>
                  <a:schemeClr val="tx1"/>
                </a:solidFill>
              </a:rPr>
              <a:t>이미지</a:t>
            </a:r>
            <a:r>
              <a:rPr lang="en-US" altLang="ko-KR" sz="2000" dirty="0">
                <a:solidFill>
                  <a:schemeClr val="tx1"/>
                </a:solidFill>
              </a:rPr>
              <a:t>+</a:t>
            </a:r>
            <a:r>
              <a:rPr lang="ko-KR" altLang="en-US" sz="2000" dirty="0">
                <a:solidFill>
                  <a:schemeClr val="tx1"/>
                </a:solidFill>
              </a:rPr>
              <a:t>카메라 내부 파라미터 입력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marL="0" indent="0" algn="l"/>
            <a:r>
              <a:rPr lang="en-US" altLang="ko-KR" sz="2000" b="1" dirty="0">
                <a:solidFill>
                  <a:schemeClr val="tx1"/>
                </a:solidFill>
              </a:rPr>
              <a:t>2. Decoder: </a:t>
            </a:r>
            <a:r>
              <a:rPr lang="en-US" altLang="ko-KR" sz="2000" dirty="0">
                <a:solidFill>
                  <a:schemeClr val="tx1"/>
                </a:solidFill>
              </a:rPr>
              <a:t>cross-attention</a:t>
            </a:r>
            <a:r>
              <a:rPr lang="ko-KR" altLang="en-US" sz="2000" dirty="0">
                <a:solidFill>
                  <a:schemeClr val="tx1"/>
                </a:solidFill>
              </a:rPr>
              <a:t>으로 시점 간 정보 통합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marL="0" indent="0" algn="l"/>
            <a:r>
              <a:rPr lang="en-US" altLang="ko-KR" sz="2000" b="1" dirty="0">
                <a:solidFill>
                  <a:schemeClr val="tx1"/>
                </a:solidFill>
              </a:rPr>
              <a:t>3. Prediction Heads: </a:t>
            </a:r>
            <a:r>
              <a:rPr lang="en-US" altLang="ko-KR" sz="2000" dirty="0">
                <a:solidFill>
                  <a:schemeClr val="tx1"/>
                </a:solidFill>
              </a:rPr>
              <a:t>Gaussian </a:t>
            </a:r>
            <a:r>
              <a:rPr lang="ko-KR" altLang="en-US" sz="2000" dirty="0">
                <a:solidFill>
                  <a:schemeClr val="tx1"/>
                </a:solidFill>
              </a:rPr>
              <a:t>중심</a:t>
            </a:r>
            <a:r>
              <a:rPr lang="en-US" altLang="ko-KR" sz="2000" dirty="0">
                <a:solidFill>
                  <a:schemeClr val="tx1"/>
                </a:solidFill>
              </a:rPr>
              <a:t>. </a:t>
            </a:r>
            <a:r>
              <a:rPr lang="ko-KR" altLang="en-US" sz="2000" dirty="0">
                <a:solidFill>
                  <a:schemeClr val="tx1"/>
                </a:solidFill>
              </a:rPr>
              <a:t>회전</a:t>
            </a:r>
            <a:r>
              <a:rPr lang="en-US" altLang="ko-KR" sz="2000" dirty="0">
                <a:solidFill>
                  <a:schemeClr val="tx1"/>
                </a:solidFill>
              </a:rPr>
              <a:t>, </a:t>
            </a:r>
            <a:r>
              <a:rPr lang="ko-KR" altLang="en-US" sz="2000" dirty="0">
                <a:solidFill>
                  <a:schemeClr val="tx1"/>
                </a:solidFill>
              </a:rPr>
              <a:t>색상 등을 예측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55D600-91A0-3C7D-1549-47797BC4B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44" y="2414490"/>
            <a:ext cx="8068356" cy="263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0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22121607-63B6-E8C0-85E6-6CAD07D1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AB038F58-6040-BACF-AC5C-30390E5140E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F1FC8BCF-BDC6-7157-F871-29F166AFE01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51535EE-1498-2A23-8A18-07DB77191E5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7AC55647-FB50-B722-12D6-CB560D825E13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 Method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정리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C2E0B9E-C60D-B410-7BBD-2C8E7244B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088" y="1055550"/>
            <a:ext cx="7926570" cy="368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15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B9B68A26-F2DB-A280-4114-D1FC253F7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EF0D44A-526F-0733-589D-79FD31D26EC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C6FE2159-D4DA-C859-C160-21339E4FC8C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33BFABC6-5C14-DA2D-641E-DDC3D13186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8370CA19-316E-CA93-4014-F01629795072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 Method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정리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49F54B-600F-EC86-BD76-03F3B67C2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75" y="1386588"/>
            <a:ext cx="7097403" cy="15127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6CAC09-FCB5-5164-E478-560C5157C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978" y="2425411"/>
            <a:ext cx="7455625" cy="94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81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99C84676-4A06-7B7B-7775-6867060F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5EAF3C55-4D0C-B1E2-C57D-7A51415135D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7241B184-9EDF-BBB2-EFC6-36F5C36DD19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BB54D1F9-CB97-1FED-CF72-7C627FF606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06252E86-3B00-88DC-BB49-BC6EF92FBF90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 Method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정리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4267F81-3857-6ADD-3796-B86F89232822}"/>
              </a:ext>
            </a:extLst>
          </p:cNvPr>
          <p:cNvSpPr txBox="1">
            <a:spLocks/>
          </p:cNvSpPr>
          <p:nvPr/>
        </p:nvSpPr>
        <p:spPr>
          <a:xfrm>
            <a:off x="1408975" y="1055549"/>
            <a:ext cx="7430310" cy="37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endParaRPr lang="ko-KR" altLang="en-US" sz="2000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121741-23C7-BD74-241D-7CAE50E18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381" y="1055549"/>
            <a:ext cx="7245498" cy="364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45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206A20D0-5230-276B-C366-538B87745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41FC24F7-1DC5-8010-3E54-29B0CDCAE2D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47FA9F60-A7ED-45DE-77D6-44647C890EC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B6DF86D6-5D37-D599-920A-ABA6619C1CC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669BAE07-8B4D-DCF9-68AE-1421268819A9}"/>
              </a:ext>
            </a:extLst>
          </p:cNvPr>
          <p:cNvSpPr txBox="1">
            <a:spLocks/>
          </p:cNvSpPr>
          <p:nvPr/>
        </p:nvSpPr>
        <p:spPr>
          <a:xfrm>
            <a:off x="1408975" y="1055549"/>
            <a:ext cx="7430310" cy="37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endParaRPr lang="en-US" altLang="ko-KR" sz="2000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E8EBAD-8F03-8102-0DF3-4333987A0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038" y="1055549"/>
            <a:ext cx="7084320" cy="3781074"/>
          </a:xfrm>
          <a:prstGeom prst="rect">
            <a:avLst/>
          </a:prstGeom>
        </p:spPr>
      </p:pic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333D4433-C441-050F-0D34-BB328B985644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 Method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정리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078140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378C9346-3C48-0E78-810B-9D25F796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007B1AF9-1D12-DC41-3C8E-2141BFD095B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E05F850F-CE68-867A-259D-A076D2AAC9D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9A1A5952-A6FD-CBCD-1CD4-3E998982DAD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DF017F06-3484-0FE0-D370-61F804796F3A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성능 실험 결과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2C64C85-7CD8-16B6-1D96-646E007B1386}"/>
              </a:ext>
            </a:extLst>
          </p:cNvPr>
          <p:cNvSpPr txBox="1">
            <a:spLocks/>
          </p:cNvSpPr>
          <p:nvPr/>
        </p:nvSpPr>
        <p:spPr>
          <a:xfrm>
            <a:off x="1408975" y="1055549"/>
            <a:ext cx="7430310" cy="37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endParaRPr lang="ko-KR" altLang="en-US" sz="2000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04E8F9-DFD8-8E1C-8191-89B441324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271" y="1496138"/>
            <a:ext cx="8764854" cy="28998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750E13A0-E054-626A-DB7C-30562B959FE6}"/>
                  </a:ext>
                </a:extLst>
              </p14:cNvPr>
              <p14:cNvContentPartPr/>
              <p14:nvPr/>
            </p14:nvContentPartPr>
            <p14:xfrm>
              <a:off x="1070867" y="4161600"/>
              <a:ext cx="4847760" cy="856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750E13A0-E054-626A-DB7C-30562B959F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7227" y="4053960"/>
                <a:ext cx="4955400" cy="30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0939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ECA00959-8CEC-B010-CB7D-84E1D3A8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25341123-5FBE-29E0-BE59-5DC47EB96B1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8D651185-F9E1-A9E1-52E2-FC73AD188A3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EABB8FF6-E4D5-5D57-EB02-26546EC3D8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F4FC7468-5357-FCE8-6242-3B5788A86F03}"/>
              </a:ext>
            </a:extLst>
          </p:cNvPr>
          <p:cNvSpPr txBox="1"/>
          <p:nvPr/>
        </p:nvSpPr>
        <p:spPr>
          <a:xfrm>
            <a:off x="1408975" y="306875"/>
            <a:ext cx="662812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성능 실험 및 결과 요약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포즈 추정 성능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일반화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67FC40F-506C-9AC2-6611-E0C669277D83}"/>
              </a:ext>
            </a:extLst>
          </p:cNvPr>
          <p:cNvSpPr txBox="1">
            <a:spLocks/>
          </p:cNvSpPr>
          <p:nvPr/>
        </p:nvSpPr>
        <p:spPr>
          <a:xfrm>
            <a:off x="1408975" y="1055549"/>
            <a:ext cx="7430310" cy="37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endParaRPr lang="ko-KR" altLang="en-US" sz="2000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D04E3D-9D7A-A009-5EE9-A60E91B98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8" y="1323830"/>
            <a:ext cx="8977964" cy="32445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E55415AE-940D-E5D4-587C-5844679A21E8}"/>
                  </a:ext>
                </a:extLst>
              </p14:cNvPr>
              <p14:cNvContentPartPr/>
              <p14:nvPr/>
            </p14:nvContentPartPr>
            <p14:xfrm>
              <a:off x="7434947" y="1431360"/>
              <a:ext cx="360360" cy="36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E55415AE-940D-E5D4-587C-5844679A21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81307" y="1323720"/>
                <a:ext cx="46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4C36D562-516B-ECF2-4D29-4AD3D7E50C60}"/>
                  </a:ext>
                </a:extLst>
              </p14:cNvPr>
              <p14:cNvContentPartPr/>
              <p14:nvPr/>
            </p14:nvContentPartPr>
            <p14:xfrm>
              <a:off x="2887427" y="1395360"/>
              <a:ext cx="351720" cy="126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4C36D562-516B-ECF2-4D29-4AD3D7E50C6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33427" y="1287360"/>
                <a:ext cx="459360" cy="22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912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3AB6FA08-A7F7-E354-59B2-F4C71CC84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7331A9C5-34AD-5602-5608-5A9C1609FA7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9B5E4F86-418C-CFB6-A8ED-AE17CE1DB6B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5ECB9ADD-F6AA-4259-79E9-87D3DAD7837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3AE9D04C-9903-9808-0208-FBE2BBD92DB3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성능 실험 및 결과 요약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625F2613-FCC8-DBA7-00F9-9488619AFE31}"/>
              </a:ext>
            </a:extLst>
          </p:cNvPr>
          <p:cNvSpPr txBox="1">
            <a:spLocks/>
          </p:cNvSpPr>
          <p:nvPr/>
        </p:nvSpPr>
        <p:spPr>
          <a:xfrm>
            <a:off x="1408975" y="1055549"/>
            <a:ext cx="7430310" cy="37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endParaRPr lang="ko-KR" altLang="en-US" sz="2000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B429F6-2387-70CE-608F-919252642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1750" y="845454"/>
            <a:ext cx="6204760" cy="399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475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6D380F38-5BC5-5C61-76F7-8BC0F667B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9EC1E11D-BFF8-80B9-249B-E66D9EDA908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2F886F8F-DA9B-C762-28A9-68EF7F35660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305B2FE6-D398-D515-06C6-3E5B1F3F6D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7A0D56C6-9532-7300-DD12-051DEAA8A671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5.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기여와 한계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기여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285E19-2711-1271-96E1-F55C26B0F0AC}"/>
              </a:ext>
            </a:extLst>
          </p:cNvPr>
          <p:cNvSpPr txBox="1">
            <a:spLocks/>
          </p:cNvSpPr>
          <p:nvPr/>
        </p:nvSpPr>
        <p:spPr>
          <a:xfrm>
            <a:off x="1408974" y="992533"/>
            <a:ext cx="8027126" cy="415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514350" algn="l">
              <a:lnSpc>
                <a:spcPct val="200000"/>
              </a:lnSpc>
              <a:buFont typeface="Arial"/>
              <a:buAutoNum type="arabicPeriod"/>
            </a:pPr>
            <a:r>
              <a:rPr lang="ko-KR" altLang="en-US" sz="2200" b="1" dirty="0">
                <a:solidFill>
                  <a:schemeClr val="tx1"/>
                </a:solidFill>
                <a:latin typeface="+mn-ea"/>
                <a:ea typeface="+mn-ea"/>
              </a:rPr>
              <a:t>포즈 없이도 </a:t>
            </a:r>
            <a:r>
              <a:rPr lang="en-US" altLang="ko-KR" sz="2200" b="1" dirty="0">
                <a:solidFill>
                  <a:schemeClr val="tx1"/>
                </a:solidFill>
                <a:latin typeface="+mn-ea"/>
                <a:ea typeface="+mn-ea"/>
              </a:rPr>
              <a:t>3D </a:t>
            </a:r>
            <a:r>
              <a:rPr lang="ko-KR" altLang="en-US" sz="2200" b="1" dirty="0">
                <a:solidFill>
                  <a:schemeClr val="tx1"/>
                </a:solidFill>
                <a:latin typeface="+mn-ea"/>
                <a:ea typeface="+mn-ea"/>
              </a:rPr>
              <a:t>장면 복원</a:t>
            </a:r>
            <a:r>
              <a:rPr lang="en-US" altLang="ko-KR" sz="2200" b="1" dirty="0">
                <a:solidFill>
                  <a:schemeClr val="tx1"/>
                </a:solidFill>
                <a:latin typeface="+mn-ea"/>
                <a:ea typeface="+mn-ea"/>
              </a:rPr>
              <a:t>!!</a:t>
            </a:r>
          </a:p>
          <a:p>
            <a:pPr marL="514350" indent="-514350" algn="l">
              <a:lnSpc>
                <a:spcPct val="200000"/>
              </a:lnSpc>
              <a:buFont typeface="Arial"/>
              <a:buAutoNum type="arabicPeriod"/>
            </a:pPr>
            <a:r>
              <a:rPr lang="ko-KR" altLang="en-US" sz="2200" b="1" dirty="0">
                <a:solidFill>
                  <a:schemeClr val="tx1"/>
                </a:solidFill>
                <a:latin typeface="+mn-ea"/>
                <a:ea typeface="+mn-ea"/>
              </a:rPr>
              <a:t>카메라 내부 파라미터 </a:t>
            </a:r>
            <a:r>
              <a:rPr lang="ko-KR" altLang="en-US" sz="2200" b="1" dirty="0" err="1">
                <a:solidFill>
                  <a:schemeClr val="tx1"/>
                </a:solidFill>
                <a:latin typeface="+mn-ea"/>
                <a:ea typeface="+mn-ea"/>
              </a:rPr>
              <a:t>임베딩을</a:t>
            </a:r>
            <a:r>
              <a:rPr lang="ko-KR" altLang="en-US" sz="2200" b="1" dirty="0">
                <a:solidFill>
                  <a:schemeClr val="tx1"/>
                </a:solidFill>
                <a:latin typeface="+mn-ea"/>
                <a:ea typeface="+mn-ea"/>
              </a:rPr>
              <a:t> 통해 </a:t>
            </a:r>
            <a:r>
              <a:rPr lang="en-US" altLang="ko-KR" sz="2200" b="1" dirty="0">
                <a:solidFill>
                  <a:schemeClr val="tx1"/>
                </a:solidFill>
                <a:latin typeface="+mn-ea"/>
                <a:ea typeface="+mn-ea"/>
              </a:rPr>
              <a:t>scale ambiguity </a:t>
            </a:r>
            <a:r>
              <a:rPr lang="ko-KR" altLang="en-US" sz="2200" b="1" dirty="0">
                <a:solidFill>
                  <a:schemeClr val="tx1"/>
                </a:solidFill>
                <a:latin typeface="+mn-ea"/>
                <a:ea typeface="+mn-ea"/>
              </a:rPr>
              <a:t>해결</a:t>
            </a:r>
            <a:endParaRPr lang="en-US" altLang="ko-KR" sz="2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14350" indent="-514350" algn="l">
              <a:lnSpc>
                <a:spcPct val="200000"/>
              </a:lnSpc>
              <a:buFont typeface="Arial"/>
              <a:buAutoNum type="arabicPeriod"/>
            </a:pPr>
            <a:r>
              <a:rPr lang="ko-KR" altLang="en-US" sz="2200" b="1" dirty="0">
                <a:solidFill>
                  <a:schemeClr val="tx1"/>
                </a:solidFill>
                <a:latin typeface="+mn-ea"/>
                <a:ea typeface="+mn-ea"/>
              </a:rPr>
              <a:t>상대 포즈 추정도 정확하게 수행 가능</a:t>
            </a:r>
            <a:endParaRPr lang="en-US" altLang="ko-KR" sz="2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14350" indent="-514350" algn="l">
              <a:lnSpc>
                <a:spcPct val="200000"/>
              </a:lnSpc>
              <a:buFont typeface="Arial"/>
              <a:buAutoNum type="arabicPeriod"/>
            </a:pPr>
            <a:r>
              <a:rPr lang="ko-KR" altLang="en-US" sz="2200" b="1" dirty="0">
                <a:solidFill>
                  <a:schemeClr val="tx1"/>
                </a:solidFill>
                <a:latin typeface="+mn-ea"/>
                <a:ea typeface="+mn-ea"/>
              </a:rPr>
              <a:t>다양한 </a:t>
            </a:r>
            <a:r>
              <a:rPr lang="en-US" altLang="ko-KR" sz="2200" b="1" dirty="0">
                <a:solidFill>
                  <a:schemeClr val="tx1"/>
                </a:solidFill>
                <a:latin typeface="+mn-ea"/>
                <a:ea typeface="+mn-ea"/>
              </a:rPr>
              <a:t>dataset</a:t>
            </a:r>
            <a:r>
              <a:rPr lang="ko-KR" altLang="en-US" sz="2200" b="1" dirty="0">
                <a:solidFill>
                  <a:schemeClr val="tx1"/>
                </a:solidFill>
                <a:latin typeface="+mn-ea"/>
                <a:ea typeface="+mn-ea"/>
              </a:rPr>
              <a:t>에서 </a:t>
            </a:r>
            <a:r>
              <a:rPr lang="en-US" altLang="ko-KR" sz="2200" b="1" dirty="0">
                <a:solidFill>
                  <a:schemeClr val="tx1"/>
                </a:solidFill>
                <a:latin typeface="+mn-ea"/>
                <a:ea typeface="+mn-ea"/>
              </a:rPr>
              <a:t>SOTA </a:t>
            </a:r>
            <a:r>
              <a:rPr lang="ko-KR" altLang="en-US" sz="2200" b="1" dirty="0">
                <a:solidFill>
                  <a:schemeClr val="tx1"/>
                </a:solidFill>
                <a:latin typeface="+mn-ea"/>
                <a:ea typeface="+mn-ea"/>
              </a:rPr>
              <a:t>성능 달성</a:t>
            </a:r>
            <a:br>
              <a:rPr lang="en-US" altLang="ko-KR" sz="2200" b="1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ko-KR" altLang="en-US" sz="2200" b="1" dirty="0">
                <a:solidFill>
                  <a:schemeClr val="tx1"/>
                </a:solidFill>
                <a:latin typeface="+mn-ea"/>
                <a:ea typeface="+mn-ea"/>
              </a:rPr>
              <a:t>실제 이미지에도 적용 가능</a:t>
            </a:r>
            <a:endParaRPr lang="en-US" altLang="ko-KR" sz="2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14350" indent="-514350" algn="l">
              <a:lnSpc>
                <a:spcPct val="200000"/>
              </a:lnSpc>
              <a:buFont typeface="Arial" panose="020B0604020202020204" pitchFamily="34" charset="0"/>
              <a:buAutoNum type="arabicPeriod"/>
            </a:pPr>
            <a:r>
              <a:rPr lang="ko-KR" altLang="en-US" sz="2200" b="1" dirty="0">
                <a:solidFill>
                  <a:schemeClr val="tx1"/>
                </a:solidFill>
                <a:latin typeface="+mn-ea"/>
                <a:ea typeface="+mn-ea"/>
              </a:rPr>
              <a:t>두 장의 이미지로도 새로운 시점 예측 및 포즈 추정 가능</a:t>
            </a:r>
            <a:endParaRPr lang="en-US" altLang="ko-KR" sz="2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14350" indent="-514350" algn="l">
              <a:buFont typeface="Arial" panose="020B0604020202020204" pitchFamily="34" charset="0"/>
              <a:buAutoNum type="arabicPeriod"/>
            </a:pPr>
            <a:endParaRPr lang="en-US" altLang="ko-KR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14350" indent="-514350" algn="l">
              <a:buFont typeface="Arial" panose="020B0604020202020204" pitchFamily="34" charset="0"/>
              <a:buAutoNum type="arabicPeriod"/>
            </a:pPr>
            <a:endParaRPr lang="en-US" altLang="ko-KR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98979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94300413-8CB1-CEB2-F728-3CD175DE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E3B26F7B-D3F4-DEB5-66F8-919E1CFCE4F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58DA3E72-155E-7AF4-5F31-312505DD43E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68A9E432-E63E-A586-C893-B24084CBB0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318ADDB-711A-3A03-988E-1CCA4BB4B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054" y="1055550"/>
            <a:ext cx="6146887" cy="3781075"/>
          </a:xfrm>
          <a:prstGeom prst="rect">
            <a:avLst/>
          </a:prstGeom>
        </p:spPr>
      </p:pic>
      <p:sp>
        <p:nvSpPr>
          <p:cNvPr id="6" name="Google Shape;83;p16">
            <a:extLst>
              <a:ext uri="{FF2B5EF4-FFF2-40B4-BE49-F238E27FC236}">
                <a16:creationId xmlns:a16="http://schemas.microsoft.com/office/drawing/2014/main" id="{093FBE36-5B11-4525-F560-32E187F3D213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5.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기여와 한계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23487039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329</Words>
  <Application>Microsoft Office PowerPoint</Application>
  <PresentationFormat>화면 슬라이드 쇼(16:9)</PresentationFormat>
  <Paragraphs>55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NanumGothic 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이가연</cp:lastModifiedBy>
  <cp:revision>26</cp:revision>
  <dcterms:modified xsi:type="dcterms:W3CDTF">2025-05-19T23:43:12Z</dcterms:modified>
</cp:coreProperties>
</file>